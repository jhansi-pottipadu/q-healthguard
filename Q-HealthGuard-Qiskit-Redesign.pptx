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verpass Medium" charset="1" panose="00000000000000000000"/>
      <p:regular r:id="rId12"/>
    </p:embeddedFont>
    <p:embeddedFont>
      <p:font typeface="Arimo" charset="1" panose="020B0604020202020204"/>
      <p:regular r:id="rId13"/>
    </p:embeddedFont>
    <p:embeddedFont>
      <p:font typeface="Fira Sans" charset="1" panose="020B0503050000020004"/>
      <p:regular r:id="rId14"/>
    </p:embeddedFont>
    <p:embeddedFont>
      <p:font typeface="Fira Sans Bold" charset="1" panose="020B080305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20124" y="2688165"/>
            <a:ext cx="10447296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FFFFFF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QISKIT FALL FEST 2026 · VNQFF-02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0124" y="3345418"/>
            <a:ext cx="9532210" cy="93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8"/>
              </a:lnSpc>
            </a:pPr>
            <a:r>
              <a:rPr lang="en-US" sz="8106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Q-HealthGuard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0124" y="4428382"/>
            <a:ext cx="9532210" cy="49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85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Privacy-Preserving Federated Quantum Healthcare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0124" y="5162321"/>
            <a:ext cx="9532210" cy="109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5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Collaborative healthcare intelligence without sharing raw patient 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0124" y="6600768"/>
            <a:ext cx="1397813" cy="490623"/>
            <a:chOff x="0" y="0"/>
            <a:chExt cx="1863750" cy="654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3725" cy="654050"/>
            </a:xfrm>
            <a:custGeom>
              <a:avLst/>
              <a:gdLst/>
              <a:ahLst/>
              <a:cxnLst/>
              <a:rect r="r" b="b" t="t" l="l"/>
              <a:pathLst>
                <a:path h="654050" w="1863725">
                  <a:moveTo>
                    <a:pt x="0" y="327025"/>
                  </a:moveTo>
                  <a:cubicBezTo>
                    <a:pt x="0" y="146431"/>
                    <a:pt x="146431" y="0"/>
                    <a:pt x="327025" y="0"/>
                  </a:cubicBezTo>
                  <a:lnTo>
                    <a:pt x="1536700" y="0"/>
                  </a:lnTo>
                  <a:cubicBezTo>
                    <a:pt x="1717294" y="0"/>
                    <a:pt x="1863725" y="146431"/>
                    <a:pt x="1863725" y="327025"/>
                  </a:cubicBezTo>
                  <a:cubicBezTo>
                    <a:pt x="1863725" y="507619"/>
                    <a:pt x="1717294" y="654050"/>
                    <a:pt x="1536700" y="654050"/>
                  </a:cubicBezTo>
                  <a:lnTo>
                    <a:pt x="327025" y="654050"/>
                  </a:lnTo>
                  <a:cubicBezTo>
                    <a:pt x="146431" y="654177"/>
                    <a:pt x="0" y="507746"/>
                    <a:pt x="0" y="3271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8833" y="6695056"/>
            <a:ext cx="1935480" cy="30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 spc="118">
                <a:solidFill>
                  <a:srgbClr val="05123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QISKIT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75214" y="6600768"/>
            <a:ext cx="2758383" cy="490623"/>
            <a:chOff x="0" y="0"/>
            <a:chExt cx="3677844" cy="654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77793" cy="654050"/>
            </a:xfrm>
            <a:custGeom>
              <a:avLst/>
              <a:gdLst/>
              <a:ahLst/>
              <a:cxnLst/>
              <a:rect r="r" b="b" t="t" l="l"/>
              <a:pathLst>
                <a:path h="654050" w="3677793">
                  <a:moveTo>
                    <a:pt x="0" y="327025"/>
                  </a:moveTo>
                  <a:cubicBezTo>
                    <a:pt x="0" y="146431"/>
                    <a:pt x="146431" y="0"/>
                    <a:pt x="327025" y="0"/>
                  </a:cubicBezTo>
                  <a:lnTo>
                    <a:pt x="3350768" y="0"/>
                  </a:lnTo>
                  <a:cubicBezTo>
                    <a:pt x="3531362" y="0"/>
                    <a:pt x="3677793" y="146431"/>
                    <a:pt x="3677793" y="327025"/>
                  </a:cubicBezTo>
                  <a:cubicBezTo>
                    <a:pt x="3677793" y="507619"/>
                    <a:pt x="3531362" y="654050"/>
                    <a:pt x="3350768" y="654050"/>
                  </a:cubicBezTo>
                  <a:lnTo>
                    <a:pt x="327025" y="654050"/>
                  </a:lnTo>
                  <a:cubicBezTo>
                    <a:pt x="146431" y="654177"/>
                    <a:pt x="0" y="507746"/>
                    <a:pt x="0" y="3271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63923" y="6695056"/>
            <a:ext cx="3296060" cy="30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 spc="118">
                <a:solidFill>
                  <a:srgbClr val="05123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EPIC ENGINEERS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96064"/>
            <a:ext cx="6131147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EXECUTION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17063"/>
            <a:ext cx="5216052" cy="178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Train locally. Share parameters. Improve globally.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3391519"/>
            <a:ext cx="5216052" cy="263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52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Multiple hospitals collaboratively train healthcare prediction models without directly sharing raw patient records.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095" y="6784724"/>
            <a:ext cx="5216052" cy="2595210"/>
            <a:chOff x="0" y="0"/>
            <a:chExt cx="6954736" cy="3460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54774" cy="3460242"/>
            </a:xfrm>
            <a:custGeom>
              <a:avLst/>
              <a:gdLst/>
              <a:ahLst/>
              <a:cxnLst/>
              <a:rect r="r" b="b" t="t" l="l"/>
              <a:pathLst>
                <a:path h="3460242" w="6954774">
                  <a:moveTo>
                    <a:pt x="0" y="176149"/>
                  </a:moveTo>
                  <a:cubicBezTo>
                    <a:pt x="0" y="78867"/>
                    <a:pt x="78867" y="0"/>
                    <a:pt x="176149" y="0"/>
                  </a:cubicBezTo>
                  <a:lnTo>
                    <a:pt x="6778625" y="0"/>
                  </a:lnTo>
                  <a:cubicBezTo>
                    <a:pt x="6875907" y="0"/>
                    <a:pt x="6954774" y="78867"/>
                    <a:pt x="6954774" y="176149"/>
                  </a:cubicBezTo>
                  <a:lnTo>
                    <a:pt x="6954774" y="3284093"/>
                  </a:lnTo>
                  <a:cubicBezTo>
                    <a:pt x="6954774" y="3381375"/>
                    <a:pt x="6875907" y="3460242"/>
                    <a:pt x="6778625" y="3460242"/>
                  </a:cubicBezTo>
                  <a:lnTo>
                    <a:pt x="176149" y="3460242"/>
                  </a:lnTo>
                  <a:cubicBezTo>
                    <a:pt x="78867" y="3460242"/>
                    <a:pt x="0" y="3381375"/>
                    <a:pt x="0" y="3284093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29658" y="7158885"/>
            <a:ext cx="5502021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TRIAD SYNTHESIS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658" y="7589510"/>
            <a:ext cx="4586926" cy="13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Federated Averaging + Qiskit QML Kernels + Differential Privacy.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18374" y="571948"/>
            <a:ext cx="114386" cy="982142"/>
            <a:chOff x="0" y="0"/>
            <a:chExt cx="152514" cy="13095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527" cy="1309497"/>
            </a:xfrm>
            <a:custGeom>
              <a:avLst/>
              <a:gdLst/>
              <a:ahLst/>
              <a:cxnLst/>
              <a:rect r="r" b="b" t="t" l="l"/>
              <a:pathLst>
                <a:path h="1309497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1309497"/>
                  </a:lnTo>
                  <a:lnTo>
                    <a:pt x="0" y="1309497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03810" y="162049"/>
            <a:ext cx="888435" cy="888454"/>
            <a:chOff x="0" y="0"/>
            <a:chExt cx="1184580" cy="11846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4529" cy="1184656"/>
            </a:xfrm>
            <a:custGeom>
              <a:avLst/>
              <a:gdLst/>
              <a:ahLst/>
              <a:cxnLst/>
              <a:rect r="r" b="b" t="t" l="l"/>
              <a:pathLst>
                <a:path h="1184656" w="1184529">
                  <a:moveTo>
                    <a:pt x="0" y="592328"/>
                  </a:moveTo>
                  <a:cubicBezTo>
                    <a:pt x="0" y="265176"/>
                    <a:pt x="265176" y="0"/>
                    <a:pt x="592328" y="0"/>
                  </a:cubicBezTo>
                  <a:cubicBezTo>
                    <a:pt x="919480" y="0"/>
                    <a:pt x="1184529" y="265176"/>
                    <a:pt x="1184529" y="592328"/>
                  </a:cubicBezTo>
                  <a:cubicBezTo>
                    <a:pt x="1184529" y="919480"/>
                    <a:pt x="919353" y="1184656"/>
                    <a:pt x="592328" y="1184656"/>
                  </a:cubicBezTo>
                  <a:cubicBezTo>
                    <a:pt x="265303" y="1184656"/>
                    <a:pt x="0" y="919480"/>
                    <a:pt x="0" y="59232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868241" y="405965"/>
            <a:ext cx="1474660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0551" y="436559"/>
            <a:ext cx="9242517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Hospital A, B, 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30551" y="1085240"/>
            <a:ext cx="9471289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Patient data remains within local hospital premises.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18374" y="1554089"/>
            <a:ext cx="114386" cy="1496597"/>
            <a:chOff x="0" y="0"/>
            <a:chExt cx="152514" cy="19954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527" cy="1995424"/>
            </a:xfrm>
            <a:custGeom>
              <a:avLst/>
              <a:gdLst/>
              <a:ahLst/>
              <a:cxnLst/>
              <a:rect r="r" b="b" t="t" l="l"/>
              <a:pathLst>
                <a:path h="1995424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1995424"/>
                  </a:lnTo>
                  <a:lnTo>
                    <a:pt x="0" y="1995424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03810" y="1639881"/>
            <a:ext cx="925963" cy="925982"/>
            <a:chOff x="0" y="0"/>
            <a:chExt cx="1234618" cy="1234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4567" cy="1234694"/>
            </a:xfrm>
            <a:custGeom>
              <a:avLst/>
              <a:gdLst/>
              <a:ahLst/>
              <a:cxnLst/>
              <a:rect r="r" b="b" t="t" l="l"/>
              <a:pathLst>
                <a:path h="1234694" w="1234567">
                  <a:moveTo>
                    <a:pt x="0" y="617347"/>
                  </a:moveTo>
                  <a:cubicBezTo>
                    <a:pt x="0" y="276352"/>
                    <a:pt x="276352" y="0"/>
                    <a:pt x="617347" y="0"/>
                  </a:cubicBezTo>
                  <a:cubicBezTo>
                    <a:pt x="958342" y="0"/>
                    <a:pt x="1234567" y="276352"/>
                    <a:pt x="1234567" y="617347"/>
                  </a:cubicBezTo>
                  <a:cubicBezTo>
                    <a:pt x="1234567" y="958342"/>
                    <a:pt x="958215" y="1234694"/>
                    <a:pt x="617347" y="1234694"/>
                  </a:cubicBezTo>
                  <a:cubicBezTo>
                    <a:pt x="276479" y="1234694"/>
                    <a:pt x="0" y="958215"/>
                    <a:pt x="0" y="617347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868241" y="1902562"/>
            <a:ext cx="1512199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68080" y="1933146"/>
            <a:ext cx="92049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Local quantum 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8080" y="2581837"/>
            <a:ext cx="9433760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Each client trains a Qiskit circuit model locally.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018374" y="3050677"/>
            <a:ext cx="114386" cy="1497787"/>
            <a:chOff x="0" y="0"/>
            <a:chExt cx="152514" cy="1997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527" cy="1997075"/>
            </a:xfrm>
            <a:custGeom>
              <a:avLst/>
              <a:gdLst/>
              <a:ahLst/>
              <a:cxnLst/>
              <a:rect r="r" b="b" t="t" l="l"/>
              <a:pathLst>
                <a:path h="1997075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1997075"/>
                  </a:lnTo>
                  <a:lnTo>
                    <a:pt x="0" y="1997075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03810" y="3136478"/>
            <a:ext cx="928202" cy="928221"/>
            <a:chOff x="0" y="0"/>
            <a:chExt cx="1237602" cy="12376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7615" cy="1237615"/>
            </a:xfrm>
            <a:custGeom>
              <a:avLst/>
              <a:gdLst/>
              <a:ahLst/>
              <a:cxnLst/>
              <a:rect r="r" b="b" t="t" l="l"/>
              <a:pathLst>
                <a:path h="1237615" w="1237615">
                  <a:moveTo>
                    <a:pt x="0" y="618871"/>
                  </a:moveTo>
                  <a:cubicBezTo>
                    <a:pt x="0" y="277114"/>
                    <a:pt x="276987" y="0"/>
                    <a:pt x="618744" y="0"/>
                  </a:cubicBezTo>
                  <a:cubicBezTo>
                    <a:pt x="960501" y="0"/>
                    <a:pt x="1237615" y="277114"/>
                    <a:pt x="1237615" y="618871"/>
                  </a:cubicBezTo>
                  <a:cubicBezTo>
                    <a:pt x="1237615" y="960628"/>
                    <a:pt x="960501" y="1237615"/>
                    <a:pt x="618744" y="1237615"/>
                  </a:cubicBezTo>
                  <a:cubicBezTo>
                    <a:pt x="276987" y="1237615"/>
                    <a:pt x="0" y="960628"/>
                    <a:pt x="0" y="618871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868241" y="3400339"/>
            <a:ext cx="1514427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70318" y="3430934"/>
            <a:ext cx="920275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Privacy layer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0318" y="4079624"/>
            <a:ext cx="9431522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Clip updates and add Differential Privacy noise.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018374" y="4548464"/>
            <a:ext cx="114386" cy="1512084"/>
            <a:chOff x="0" y="0"/>
            <a:chExt cx="152514" cy="20161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527" cy="2016125"/>
            </a:xfrm>
            <a:custGeom>
              <a:avLst/>
              <a:gdLst/>
              <a:ahLst/>
              <a:cxnLst/>
              <a:rect r="r" b="b" t="t" l="l"/>
              <a:pathLst>
                <a:path h="2016125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2016125"/>
                  </a:lnTo>
                  <a:lnTo>
                    <a:pt x="0" y="2016125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703810" y="4634255"/>
            <a:ext cx="956948" cy="956967"/>
            <a:chOff x="0" y="0"/>
            <a:chExt cx="1275931" cy="12759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5842" cy="1275842"/>
            </a:xfrm>
            <a:custGeom>
              <a:avLst/>
              <a:gdLst/>
              <a:ahLst/>
              <a:cxnLst/>
              <a:rect r="r" b="b" t="t" l="l"/>
              <a:pathLst>
                <a:path h="1275842" w="1275842">
                  <a:moveTo>
                    <a:pt x="0" y="637921"/>
                  </a:moveTo>
                  <a:cubicBezTo>
                    <a:pt x="0" y="285623"/>
                    <a:pt x="285623" y="0"/>
                    <a:pt x="637921" y="0"/>
                  </a:cubicBezTo>
                  <a:cubicBezTo>
                    <a:pt x="990219" y="0"/>
                    <a:pt x="1275842" y="285623"/>
                    <a:pt x="1275842" y="637921"/>
                  </a:cubicBezTo>
                  <a:cubicBezTo>
                    <a:pt x="1275842" y="990219"/>
                    <a:pt x="990219" y="1275842"/>
                    <a:pt x="637921" y="1275842"/>
                  </a:cubicBezTo>
                  <a:cubicBezTo>
                    <a:pt x="285623" y="1275842"/>
                    <a:pt x="0" y="990346"/>
                    <a:pt x="0" y="637921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7868241" y="4912424"/>
            <a:ext cx="1543174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99065" y="4943018"/>
            <a:ext cx="9174004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Parameter-only exchange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99065" y="5591699"/>
            <a:ext cx="9402775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Only encrypted quantum circuit weights are transmitted.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018374" y="6060548"/>
            <a:ext cx="114386" cy="571948"/>
            <a:chOff x="0" y="0"/>
            <a:chExt cx="152514" cy="7625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2527" cy="762635"/>
            </a:xfrm>
            <a:custGeom>
              <a:avLst/>
              <a:gdLst/>
              <a:ahLst/>
              <a:cxnLst/>
              <a:rect r="r" b="b" t="t" l="l"/>
              <a:pathLst>
                <a:path h="762635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762635"/>
                  </a:lnTo>
                  <a:lnTo>
                    <a:pt x="0" y="762635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703810" y="6146340"/>
            <a:ext cx="940413" cy="940432"/>
            <a:chOff x="0" y="0"/>
            <a:chExt cx="1253884" cy="125390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3871" cy="1253871"/>
            </a:xfrm>
            <a:custGeom>
              <a:avLst/>
              <a:gdLst/>
              <a:ahLst/>
              <a:cxnLst/>
              <a:rect r="r" b="b" t="t" l="l"/>
              <a:pathLst>
                <a:path h="1253871" w="1253871">
                  <a:moveTo>
                    <a:pt x="0" y="626999"/>
                  </a:moveTo>
                  <a:cubicBezTo>
                    <a:pt x="0" y="280670"/>
                    <a:pt x="280670" y="0"/>
                    <a:pt x="626999" y="0"/>
                  </a:cubicBezTo>
                  <a:cubicBezTo>
                    <a:pt x="973328" y="0"/>
                    <a:pt x="1253871" y="280670"/>
                    <a:pt x="1253871" y="626999"/>
                  </a:cubicBezTo>
                  <a:cubicBezTo>
                    <a:pt x="1253871" y="973328"/>
                    <a:pt x="973201" y="1253871"/>
                    <a:pt x="626999" y="1253871"/>
                  </a:cubicBezTo>
                  <a:cubicBezTo>
                    <a:pt x="280797" y="1253871"/>
                    <a:pt x="0" y="973201"/>
                    <a:pt x="0" y="626999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7868241" y="6416316"/>
            <a:ext cx="1526648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051230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82529" y="6446911"/>
            <a:ext cx="919053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Global model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882529" y="7095592"/>
            <a:ext cx="9419311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Federated Aggregation with Federated Averaging/FedAvg.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96064"/>
            <a:ext cx="17386744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IMPLEMENTATION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17063"/>
            <a:ext cx="16471659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Built from open tools and a small circuit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2245785"/>
            <a:ext cx="6405648" cy="6996370"/>
            <a:chOff x="0" y="0"/>
            <a:chExt cx="8540864" cy="93284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40877" cy="9328531"/>
            </a:xfrm>
            <a:custGeom>
              <a:avLst/>
              <a:gdLst/>
              <a:ahLst/>
              <a:cxnLst/>
              <a:rect r="r" b="b" t="t" l="l"/>
              <a:pathLst>
                <a:path h="9328531" w="8540877">
                  <a:moveTo>
                    <a:pt x="0" y="0"/>
                  </a:moveTo>
                  <a:lnTo>
                    <a:pt x="8540877" y="0"/>
                  </a:lnTo>
                  <a:lnTo>
                    <a:pt x="8540877" y="9328531"/>
                  </a:lnTo>
                  <a:lnTo>
                    <a:pt x="0" y="9328531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8252" y="2569902"/>
            <a:ext cx="6062482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C9CFE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252" y="2998889"/>
            <a:ext cx="5719324" cy="408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Frontend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Streamlit</a:t>
            </a:r>
          </a:p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Core language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Python 3.10+</a:t>
            </a:r>
          </a:p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Data &amp; ML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Pandas · Scikit-learn</a:t>
            </a:r>
          </a:p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Quantum SDK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Qiskit 1.x · Qiskit QML</a:t>
            </a:r>
          </a:p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Simulation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Qiskit Aer</a:t>
            </a:r>
          </a:p>
          <a:p>
            <a:pPr algn="l">
              <a:lnSpc>
                <a:spcPts val="3507"/>
              </a:lnSpc>
            </a:pPr>
            <a:r>
              <a:rPr lang="en-US" sz="2476" b="true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Cloud quantum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IBM Quantum Compute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8134" y="2569902"/>
            <a:ext cx="9608620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METHODOLOGY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8134" y="3342065"/>
            <a:ext cx="5185667" cy="521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507"/>
              </a:lnSpc>
              <a:buAutoNum type="arabicPeriod" startAt="1"/>
            </a:pPr>
            <a:r>
              <a:rPr lang="en-US" b="true" sz="2476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Patient preprocessing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Feature normalization into [0, π] angles.</a:t>
            </a:r>
          </a:p>
          <a:p>
            <a:pPr algn="l" marL="448612" indent="-224306" lvl="1">
              <a:lnSpc>
                <a:spcPts val="3507"/>
              </a:lnSpc>
              <a:buAutoNum type="arabicPeriod" startAt="1"/>
            </a:pPr>
            <a:r>
              <a:rPr lang="en-US" b="true" sz="2476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Qiskit QML encoding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State mapping with an entangling ansatz.</a:t>
            </a:r>
          </a:p>
          <a:p>
            <a:pPr algn="l" marL="448612" indent="-224306" lvl="1">
              <a:lnSpc>
                <a:spcPts val="3507"/>
              </a:lnSpc>
              <a:buAutoNum type="arabicPeriod" startAt="1"/>
            </a:pPr>
            <a:r>
              <a:rPr lang="en-US" b="true" sz="2476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Local client training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Quantum kernel classification optimization.</a:t>
            </a:r>
          </a:p>
          <a:p>
            <a:pPr algn="l" marL="448612" indent="-224306" lvl="1">
              <a:lnSpc>
                <a:spcPts val="3507"/>
              </a:lnSpc>
              <a:buAutoNum type="arabicPeriod" startAt="1"/>
            </a:pPr>
            <a:r>
              <a:rPr lang="en-US" b="true" sz="2476">
                <a:solidFill>
                  <a:srgbClr val="C9CFE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Privacy + FedAvg</a:t>
            </a: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 — Gradient clipping and secure parameter fusion.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64358" y="3399215"/>
            <a:ext cx="3279229" cy="4384481"/>
            <a:chOff x="0" y="0"/>
            <a:chExt cx="4372305" cy="584597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372356" cy="5845937"/>
            </a:xfrm>
            <a:custGeom>
              <a:avLst/>
              <a:gdLst/>
              <a:ahLst/>
              <a:cxnLst/>
              <a:rect r="r" b="b" t="t" l="l"/>
              <a:pathLst>
                <a:path h="5845937" w="4372356">
                  <a:moveTo>
                    <a:pt x="0" y="0"/>
                  </a:moveTo>
                  <a:lnTo>
                    <a:pt x="4372356" y="0"/>
                  </a:lnTo>
                  <a:lnTo>
                    <a:pt x="4372356" y="5845937"/>
                  </a:lnTo>
                  <a:lnTo>
                    <a:pt x="0" y="5845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" t="0" r="-8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64358" y="7879642"/>
            <a:ext cx="3279229" cy="6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Qiskit Aer supports fast local exact and noisy runs.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96064"/>
            <a:ext cx="17386744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FEASIBILITY AND VIABILITY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26788"/>
            <a:ext cx="16471659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Four risks, each with a bounded mitigation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309879"/>
            <a:ext cx="17386744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The prototype stays feasible by keeping the circuit shallow, the data local, and the exchanged updates protected.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5092" y="3094917"/>
          <a:ext cx="9589642" cy="6672713"/>
        </p:xfrm>
        <a:graphic>
          <a:graphicData uri="http://schemas.openxmlformats.org/drawingml/2006/table">
            <a:tbl>
              <a:tblPr/>
              <a:tblGrid>
                <a:gridCol w="3272549"/>
                <a:gridCol w="6317093"/>
              </a:tblGrid>
              <a:tr h="15980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POTENTIAL CHALLENGE &amp; RISK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STRATEGY TO OVERCOME · STATUS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Small quantum hardware &amp; noise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Qiskit Aer local noise simulation + shallow depth circuits · </a:t>
                      </a: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Mitigated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Privacy leakage in model updates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Update clipping threshold + Differential Privacy noise addition · </a:t>
                      </a: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Protected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80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Heterogeneous hospital datasets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Standardized local feature scaling into unified quantum angle ranges · </a:t>
                      </a: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Standardized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65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Computational bottlenecks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C9CFE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Lightweight 4-qubit parameterized classification ansatz · </a:t>
                      </a: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Optimized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980953" y="3075870"/>
            <a:ext cx="6405791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TECHNICAL FEASIBILITY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80953" y="3504857"/>
            <a:ext cx="6405791" cy="13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Qiskit Aer provides local noise and state vector simulation without requiring cloud QPU queues during development.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80953" y="5064128"/>
            <a:ext cx="6405791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OPERATIONAL FEASIBILITY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80953" y="5493115"/>
            <a:ext cx="6405791" cy="13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Hospitals retain full data custody. Prototype validates on 3 simulated local clients using synthetic clinical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0953" y="7052386"/>
            <a:ext cx="6405791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ECONOMIC VIABILITY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80953" y="7481383"/>
            <a:ext cx="6405791" cy="13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Built with 100% open-source software stack. IBM Quantum Compute cloud hardware used strictly for verification runs.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96064"/>
            <a:ext cx="17386744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IMPACT AND BENEFITS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17063"/>
            <a:ext cx="16471659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4503" spc="-4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Privacy boundary, shared value across four audiences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198160"/>
            <a:ext cx="17386744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1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Q-HealthGuard keeps patient data local while making cross-institutional intelligence possible.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900410"/>
            <a:ext cx="5871839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POTENTIAL AUDIENCE IMPACT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2783" y="3920223"/>
            <a:ext cx="114386" cy="1021461"/>
            <a:chOff x="0" y="0"/>
            <a:chExt cx="152514" cy="13619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527" cy="1361948"/>
            </a:xfrm>
            <a:custGeom>
              <a:avLst/>
              <a:gdLst/>
              <a:ahLst/>
              <a:cxnLst/>
              <a:rect r="r" b="b" t="t" l="l"/>
              <a:pathLst>
                <a:path h="1361948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6492" y="3500752"/>
            <a:ext cx="667255" cy="667274"/>
            <a:chOff x="0" y="0"/>
            <a:chExt cx="889673" cy="889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635" cy="889635"/>
            </a:xfrm>
            <a:custGeom>
              <a:avLst/>
              <a:gdLst/>
              <a:ahLst/>
              <a:cxnLst/>
              <a:rect r="r" b="b" t="t" l="l"/>
              <a:pathLst>
                <a:path h="889635" w="889635">
                  <a:moveTo>
                    <a:pt x="0" y="444881"/>
                  </a:moveTo>
                  <a:cubicBezTo>
                    <a:pt x="0" y="199136"/>
                    <a:pt x="199136" y="0"/>
                    <a:pt x="444881" y="0"/>
                  </a:cubicBezTo>
                  <a:cubicBezTo>
                    <a:pt x="690626" y="0"/>
                    <a:pt x="889635" y="199136"/>
                    <a:pt x="889635" y="444881"/>
                  </a:cubicBezTo>
                  <a:cubicBezTo>
                    <a:pt x="889635" y="690626"/>
                    <a:pt x="690499" y="889635"/>
                    <a:pt x="444881" y="889635"/>
                  </a:cubicBezTo>
                  <a:cubicBezTo>
                    <a:pt x="199263" y="889635"/>
                    <a:pt x="0" y="690499"/>
                    <a:pt x="0" y="444881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72283" y="3586544"/>
            <a:ext cx="495671" cy="495691"/>
            <a:chOff x="0" y="0"/>
            <a:chExt cx="660895" cy="66092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60908" cy="660908"/>
            </a:xfrm>
            <a:custGeom>
              <a:avLst/>
              <a:gdLst/>
              <a:ahLst/>
              <a:cxnLst/>
              <a:rect r="r" b="b" t="t" l="l"/>
              <a:pathLst>
                <a:path h="660908" w="660908">
                  <a:moveTo>
                    <a:pt x="0" y="0"/>
                  </a:moveTo>
                  <a:lnTo>
                    <a:pt x="660908" y="0"/>
                  </a:lnTo>
                  <a:lnTo>
                    <a:pt x="6609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53924" y="3616966"/>
            <a:ext cx="503301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Hospitals &amp; Networks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3924" y="4265647"/>
            <a:ext cx="5033010" cy="6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Collaborative cross-institutional intelligence without GDPR/HIPAA violation liability.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2783" y="4941827"/>
            <a:ext cx="114386" cy="1876997"/>
            <a:chOff x="0" y="0"/>
            <a:chExt cx="152514" cy="25026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527" cy="2502662"/>
            </a:xfrm>
            <a:custGeom>
              <a:avLst/>
              <a:gdLst/>
              <a:ahLst/>
              <a:cxnLst/>
              <a:rect r="r" b="b" t="t" l="l"/>
              <a:pathLst>
                <a:path h="2502662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2502662"/>
                  </a:lnTo>
                  <a:lnTo>
                    <a:pt x="0" y="2502662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6492" y="5056032"/>
            <a:ext cx="667255" cy="667274"/>
            <a:chOff x="0" y="0"/>
            <a:chExt cx="889673" cy="8896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9635" cy="889635"/>
            </a:xfrm>
            <a:custGeom>
              <a:avLst/>
              <a:gdLst/>
              <a:ahLst/>
              <a:cxnLst/>
              <a:rect r="r" b="b" t="t" l="l"/>
              <a:pathLst>
                <a:path h="889635" w="889635">
                  <a:moveTo>
                    <a:pt x="0" y="444881"/>
                  </a:moveTo>
                  <a:cubicBezTo>
                    <a:pt x="0" y="199136"/>
                    <a:pt x="199136" y="0"/>
                    <a:pt x="444881" y="0"/>
                  </a:cubicBezTo>
                  <a:cubicBezTo>
                    <a:pt x="690626" y="0"/>
                    <a:pt x="889635" y="199136"/>
                    <a:pt x="889635" y="444881"/>
                  </a:cubicBezTo>
                  <a:cubicBezTo>
                    <a:pt x="889635" y="690626"/>
                    <a:pt x="690499" y="889635"/>
                    <a:pt x="444881" y="889635"/>
                  </a:cubicBezTo>
                  <a:cubicBezTo>
                    <a:pt x="199263" y="889635"/>
                    <a:pt x="0" y="690499"/>
                    <a:pt x="0" y="444881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72283" y="5141824"/>
            <a:ext cx="495671" cy="495691"/>
            <a:chOff x="0" y="0"/>
            <a:chExt cx="660895" cy="660921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60908" cy="660908"/>
            </a:xfrm>
            <a:custGeom>
              <a:avLst/>
              <a:gdLst/>
              <a:ahLst/>
              <a:cxnLst/>
              <a:rect r="r" b="b" t="t" l="l"/>
              <a:pathLst>
                <a:path h="660908" w="660908">
                  <a:moveTo>
                    <a:pt x="0" y="0"/>
                  </a:moveTo>
                  <a:lnTo>
                    <a:pt x="660908" y="0"/>
                  </a:lnTo>
                  <a:lnTo>
                    <a:pt x="6609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53924" y="5172246"/>
            <a:ext cx="503301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Healthcare Professionals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3924" y="5820928"/>
            <a:ext cx="5033010" cy="100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More generalizable clinical risk prediction models supported by diverse demographic cohorts.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2783" y="6818824"/>
            <a:ext cx="114386" cy="533667"/>
            <a:chOff x="0" y="0"/>
            <a:chExt cx="152514" cy="711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527" cy="711581"/>
            </a:xfrm>
            <a:custGeom>
              <a:avLst/>
              <a:gdLst/>
              <a:ahLst/>
              <a:cxnLst/>
              <a:rect r="r" b="b" t="t" l="l"/>
              <a:pathLst>
                <a:path h="711581" w="152527">
                  <a:moveTo>
                    <a:pt x="0" y="0"/>
                  </a:moveTo>
                  <a:lnTo>
                    <a:pt x="152527" y="0"/>
                  </a:lnTo>
                  <a:lnTo>
                    <a:pt x="152527" y="711581"/>
                  </a:lnTo>
                  <a:lnTo>
                    <a:pt x="0" y="711581"/>
                  </a:lnTo>
                  <a:close/>
                </a:path>
              </a:pathLst>
            </a:custGeom>
            <a:solidFill>
              <a:srgbClr val="00978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6492" y="6933028"/>
            <a:ext cx="667255" cy="667274"/>
            <a:chOff x="0" y="0"/>
            <a:chExt cx="889673" cy="8896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635" cy="889635"/>
            </a:xfrm>
            <a:custGeom>
              <a:avLst/>
              <a:gdLst/>
              <a:ahLst/>
              <a:cxnLst/>
              <a:rect r="r" b="b" t="t" l="l"/>
              <a:pathLst>
                <a:path h="889635" w="889635">
                  <a:moveTo>
                    <a:pt x="0" y="444881"/>
                  </a:moveTo>
                  <a:cubicBezTo>
                    <a:pt x="0" y="199136"/>
                    <a:pt x="199136" y="0"/>
                    <a:pt x="444881" y="0"/>
                  </a:cubicBezTo>
                  <a:cubicBezTo>
                    <a:pt x="690626" y="0"/>
                    <a:pt x="889635" y="199136"/>
                    <a:pt x="889635" y="444881"/>
                  </a:cubicBezTo>
                  <a:cubicBezTo>
                    <a:pt x="889635" y="690626"/>
                    <a:pt x="690499" y="889635"/>
                    <a:pt x="444881" y="889635"/>
                  </a:cubicBezTo>
                  <a:cubicBezTo>
                    <a:pt x="199263" y="889635"/>
                    <a:pt x="0" y="690499"/>
                    <a:pt x="0" y="444881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2283" y="7018820"/>
            <a:ext cx="495671" cy="495691"/>
            <a:chOff x="0" y="0"/>
            <a:chExt cx="660895" cy="660921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60908" cy="660908"/>
            </a:xfrm>
            <a:custGeom>
              <a:avLst/>
              <a:gdLst/>
              <a:ahLst/>
              <a:cxnLst/>
              <a:rect r="r" b="b" t="t" l="l"/>
              <a:pathLst>
                <a:path h="660908" w="660908">
                  <a:moveTo>
                    <a:pt x="0" y="0"/>
                  </a:moveTo>
                  <a:lnTo>
                    <a:pt x="660908" y="0"/>
                  </a:lnTo>
                  <a:lnTo>
                    <a:pt x="6609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-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753924" y="7049243"/>
            <a:ext cx="503301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Research Institutions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53924" y="7697924"/>
            <a:ext cx="5033010" cy="100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A9B1CA"/>
                </a:solidFill>
                <a:latin typeface="Fira Sans"/>
                <a:ea typeface="Fira Sans"/>
                <a:cs typeface="Fira Sans"/>
                <a:sym typeface="Fira Sans"/>
              </a:rPr>
              <a:t>Benchmark real-world quantum kernel advantages in privacy-preserving medical diagnostics.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44334" y="2900410"/>
            <a:ext cx="10142420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BENEFITS OF THE SOLUTION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244334" y="3386547"/>
            <a:ext cx="629126" cy="629145"/>
            <a:chOff x="0" y="0"/>
            <a:chExt cx="838835" cy="8388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-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244334" y="4158710"/>
            <a:ext cx="4956743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Absolute privacy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44334" y="4908804"/>
            <a:ext cx="4956743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Guarantees patient confidentiality across healthcare boundaries.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429849" y="3386547"/>
            <a:ext cx="629126" cy="629145"/>
            <a:chOff x="0" y="0"/>
            <a:chExt cx="838835" cy="83886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-3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429849" y="4158710"/>
            <a:ext cx="4956896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Zero central infra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29849" y="4908804"/>
            <a:ext cx="4956896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Eliminates expensive redundant central databases and pipelines.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244334" y="6088104"/>
            <a:ext cx="629126" cy="629145"/>
            <a:chOff x="0" y="0"/>
            <a:chExt cx="838835" cy="83886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-3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244334" y="6860267"/>
            <a:ext cx="4956743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QML advantage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44334" y="7610361"/>
            <a:ext cx="4956743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Validates quantum kernel mapping in real-world clinical AI.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429849" y="6088104"/>
            <a:ext cx="629126" cy="629145"/>
            <a:chOff x="0" y="0"/>
            <a:chExt cx="838835" cy="83886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1" b="-3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429849" y="6860267"/>
            <a:ext cx="4956896" cy="5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Lightweight compute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29849" y="7610361"/>
            <a:ext cx="4956896" cy="13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4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Lowers energy footprint compared to massive centralized data transfers.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5095" y="896064"/>
            <a:ext cx="9654340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DCE1EE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RESEARCH AND REFERENCES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1426788"/>
            <a:ext cx="8739245" cy="214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5404" spc="-5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Grounded in IBM Quantum tools and established methods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5092" y="3821915"/>
          <a:ext cx="8731722" cy="5795728"/>
        </p:xfrm>
        <a:graphic>
          <a:graphicData uri="http://schemas.openxmlformats.org/drawingml/2006/table">
            <a:tbl>
              <a:tblPr/>
              <a:tblGrid>
                <a:gridCol w="8731722"/>
              </a:tblGrid>
              <a:tr h="11628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PRIMARY IBM QUANTUM LITERATURE · USE IN Q-HEALTHGUARD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Qiskit Documentation (Qiskit SDK 1.x) — Quantum circuits, parameterized rotation gates, and transpilation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IBM Quantum Kernel Training (QKT) — Feature mapping to high-dimensional Hilbert space for classification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Qiskit Aer Simulation Guides — Exact and realistic device noise modeling with custom noise matrices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b="true">
                          <a:solidFill>
                            <a:srgbClr val="C9CFE0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IBM Quantum Compute Client (Runtime API) — Cloud primitives for hardware execution and verification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1255607" y="0"/>
            <a:ext cx="7046243" cy="10295039"/>
            <a:chOff x="0" y="0"/>
            <a:chExt cx="9394990" cy="13726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9495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394952">
                  <a:moveTo>
                    <a:pt x="0" y="0"/>
                  </a:moveTo>
                  <a:lnTo>
                    <a:pt x="9394952" y="0"/>
                  </a:lnTo>
                  <a:lnTo>
                    <a:pt x="939495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E1D4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70693" y="896064"/>
            <a:ext cx="6131147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C9CFE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KEY THEORETICAL FOUNDATIONS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0693" y="1446105"/>
            <a:ext cx="521605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Federated Learning (FedAvg)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0693" y="2094786"/>
            <a:ext cx="5216052" cy="6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McMahan et al. · Multi-institutional model aggregation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0693" y="3192332"/>
            <a:ext cx="521605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Quantum-enhanced feature spaces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0693" y="3841013"/>
            <a:ext cx="5216052" cy="6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Havlíček et al. · Supervised learning with quantum kernels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70693" y="4938551"/>
            <a:ext cx="521605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51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Differential Privacy (DP)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0693" y="5587232"/>
            <a:ext cx="5216052" cy="6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Dwork et al. · Rigorous privacy bounds on parameter sharing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70693" y="7267318"/>
            <a:ext cx="6131147" cy="3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108">
                <a:solidFill>
                  <a:srgbClr val="C9CFE0"/>
                </a:solidFill>
                <a:latin typeface="Overpass Medium"/>
                <a:ea typeface="Overpass Medium"/>
                <a:cs typeface="Overpass Medium"/>
                <a:sym typeface="Overpass Medium"/>
              </a:rPr>
              <a:t>RESOURCE PORTAL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70693" y="7662929"/>
            <a:ext cx="5216052" cy="11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302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quantum.cloud.ibm.com/docs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0693" y="9025471"/>
            <a:ext cx="6131147" cy="35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C9CFE0"/>
                </a:solidFill>
                <a:latin typeface="Fira Sans"/>
                <a:ea typeface="Fira Sans"/>
                <a:cs typeface="Fira Sans"/>
                <a:sym typeface="Fira Sans"/>
              </a:rPr>
              <a:t>Qiskit Fall Fest 2026 Submission · Jovial Korivi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DAHXlNYnf2I</dc:identifier>
  <dcterms:modified xsi:type="dcterms:W3CDTF">2011-08-01T06:04:30Z</dcterms:modified>
  <cp:revision>1</cp:revision>
</cp:coreProperties>
</file>